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8" r:id="rId11"/>
    <p:sldId id="347" r:id="rId12"/>
    <p:sldId id="340" r:id="rId13"/>
    <p:sldId id="344" r:id="rId14"/>
    <p:sldId id="345" r:id="rId15"/>
    <p:sldId id="346" r:id="rId16"/>
    <p:sldId id="341" r:id="rId17"/>
    <p:sldId id="342" r:id="rId18"/>
    <p:sldId id="343" r:id="rId19"/>
    <p:sldId id="304" r:id="rId20"/>
    <p:sldId id="34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CharanTeja-06/agriculture-data-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69598" y="3651585"/>
            <a:ext cx="5616251" cy="861497"/>
          </a:xfrm>
        </p:spPr>
        <p:txBody>
          <a:bodyPr vert="horz" lIns="91440" tIns="45720" rIns="91440" bIns="45720" rtlCol="0" anchor="t">
            <a:normAutofit fontScale="85000" lnSpcReduction="10000"/>
          </a:bodyPr>
          <a:lstStyle/>
          <a:p>
            <a:r>
              <a:rPr lang="en-US" b="0" dirty="0">
                <a:solidFill>
                  <a:schemeClr val="tx1"/>
                </a:solidFill>
              </a:rPr>
              <a:t>Student Name- </a:t>
            </a:r>
            <a:r>
              <a:rPr lang="en-IN" b="0" dirty="0">
                <a:solidFill>
                  <a:schemeClr val="tx1"/>
                </a:solidFill>
              </a:rPr>
              <a:t>CHARAN TEJA RAIPALLY</a:t>
            </a:r>
          </a:p>
          <a:p>
            <a:r>
              <a:rPr lang="en-US" b="0" dirty="0">
                <a:solidFill>
                  <a:schemeClr val="tx1"/>
                </a:solidFill>
              </a:rPr>
              <a:t>College Name- SIR PADAMPAT SINGHANIA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07910" y="4576469"/>
            <a:ext cx="5449078" cy="369332"/>
          </a:xfrm>
          <a:prstGeom prst="rect">
            <a:avLst/>
          </a:prstGeom>
          <a:noFill/>
        </p:spPr>
        <p:txBody>
          <a:bodyPr wrap="square" rtlCol="0">
            <a:spAutoFit/>
          </a:bodyPr>
          <a:lstStyle/>
          <a:p>
            <a:r>
              <a:rPr lang="en-US" b="1" dirty="0"/>
              <a:t>AICTE STU ID : </a:t>
            </a:r>
            <a:r>
              <a:rPr lang="en-IN" b="1" dirty="0"/>
              <a:t>STU69e68716cff881776715542</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1F07CB9E-3C45-88BF-5090-B6642531405C}"/>
              </a:ext>
            </a:extLst>
          </p:cNvPr>
          <p:cNvSpPr txBox="1"/>
          <p:nvPr/>
        </p:nvSpPr>
        <p:spPr>
          <a:xfrm>
            <a:off x="752422" y="1636210"/>
            <a:ext cx="6092061" cy="5293757"/>
          </a:xfrm>
          <a:prstGeom prst="rect">
            <a:avLst/>
          </a:prstGeom>
          <a:noFill/>
        </p:spPr>
        <p:txBody>
          <a:bodyPr wrap="square" rtlCol="0">
            <a:spAutoFit/>
          </a:bodyPr>
          <a:lstStyle/>
          <a:p>
            <a:r>
              <a:rPr lang="en-IN" sz="2000" dirty="0"/>
              <a:t>This project analyses seasonal agricultural performance using a dataset of 4,000 farm records collected across 8 Indian states, covering 8 crops and 3 farming seasons (Kharif, Rabi, Zaid). The dataset includes environmental factors (rainfall, temperature, humidity, soil conditions), resource usage (water, fertilizer, pesticide), and economic outcomes (cost, revenue, profit).</a:t>
            </a:r>
          </a:p>
          <a:p>
            <a:r>
              <a:rPr lang="en-IN" sz="2000" dirty="0"/>
              <a:t>The goal was to clean the raw data, explore it, and find out how farming performance actually changes from one season to another — and whether those differences are big enough to matter, not just visually but statistically. The analysis covers data cleaning (handling missing values and unrealistic outliers), exploratory data analysis, correlation analysis.</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lvl="0"/>
            <a:r>
              <a:rPr lang="en-IN" sz="3600" b="1" dirty="0"/>
              <a:t>Farmers and farmer groups</a:t>
            </a:r>
            <a:r>
              <a:rPr lang="en-IN" sz="3600" dirty="0"/>
              <a:t> — to understand which season works best for which crop and plan accordingly</a:t>
            </a:r>
          </a:p>
          <a:p>
            <a:pPr lvl="0"/>
            <a:r>
              <a:rPr lang="en-IN" sz="3600" b="1" dirty="0"/>
              <a:t>Agricultural officers / extension workers</a:t>
            </a:r>
            <a:r>
              <a:rPr lang="en-IN" sz="3600" dirty="0"/>
              <a:t> — to identify which regions or seasons need more support</a:t>
            </a:r>
          </a:p>
          <a:p>
            <a:pPr lvl="0"/>
            <a:r>
              <a:rPr lang="en-IN" sz="3600" b="1" dirty="0"/>
              <a:t>Policy makers / government agriculture departments</a:t>
            </a:r>
            <a:r>
              <a:rPr lang="en-IN" sz="3600" dirty="0"/>
              <a:t> — to plan subsidies, irrigation schemes, or crop insurance around season-wise risk</a:t>
            </a:r>
          </a:p>
          <a:p>
            <a:pPr lvl="0"/>
            <a:r>
              <a:rPr lang="en-IN" sz="3600" b="1" dirty="0"/>
              <a:t>Agri-business and supply chain companies</a:t>
            </a:r>
            <a:r>
              <a:rPr lang="en-IN" sz="3600" dirty="0"/>
              <a:t> — to plan procurement and pricing around seasonal yield patterns</a:t>
            </a:r>
          </a:p>
          <a:p>
            <a:pPr lvl="0"/>
            <a:r>
              <a:rPr lang="en-IN" sz="3600" b="1" dirty="0"/>
              <a:t>Students and researchers</a:t>
            </a:r>
            <a:r>
              <a:rPr lang="en-IN" sz="3600" dirty="0"/>
              <a:t> — as a reference dataset/analysis for further agricultural data studies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Python 3</a:t>
            </a:r>
            <a:r>
              <a:rPr lang="en-IN" dirty="0"/>
              <a:t> — core programming language</a:t>
            </a:r>
          </a:p>
          <a:p>
            <a:pPr lvl="0"/>
            <a:r>
              <a:rPr lang="en-IN" b="1" dirty="0"/>
              <a:t>Pandas, NumPy</a:t>
            </a:r>
            <a:r>
              <a:rPr lang="en-IN" dirty="0"/>
              <a:t> — data cleaning and manipulation</a:t>
            </a:r>
          </a:p>
          <a:p>
            <a:pPr lvl="0"/>
            <a:r>
              <a:rPr lang="en-IN" b="1" dirty="0"/>
              <a:t>Matplotlib, Seaborn</a:t>
            </a:r>
            <a:r>
              <a:rPr lang="en-IN" dirty="0"/>
              <a:t> — data visualization (bar charts, box plots, heatmaps, scatter plots)</a:t>
            </a:r>
          </a:p>
          <a:p>
            <a:pPr lvl="0"/>
            <a:r>
              <a:rPr lang="en-IN" b="1" dirty="0"/>
              <a:t>SciPy</a:t>
            </a:r>
            <a:r>
              <a:rPr lang="en-IN" dirty="0"/>
              <a:t> — statistical testing</a:t>
            </a:r>
          </a:p>
          <a:p>
            <a:pPr lvl="0"/>
            <a:r>
              <a:rPr lang="en-IN" b="1" dirty="0"/>
              <a:t>Google Colab</a:t>
            </a:r>
            <a:r>
              <a:rPr lang="en-IN" dirty="0"/>
              <a:t>— development and presentation environment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3" name="TextBox 22">
            <a:extLst>
              <a:ext uri="{FF2B5EF4-FFF2-40B4-BE49-F238E27FC236}">
                <a16:creationId xmlns:a16="http://schemas.microsoft.com/office/drawing/2014/main" id="{E1EF96C7-C39E-09D5-0519-17D5E54AB522}"/>
              </a:ext>
            </a:extLst>
          </p:cNvPr>
          <p:cNvSpPr txBox="1"/>
          <p:nvPr/>
        </p:nvSpPr>
        <p:spPr>
          <a:xfrm>
            <a:off x="675957" y="1201586"/>
            <a:ext cx="6102220" cy="369332"/>
          </a:xfrm>
          <a:prstGeom prst="rect">
            <a:avLst/>
          </a:prstGeom>
          <a:noFill/>
        </p:spPr>
        <p:txBody>
          <a:bodyPr wrap="square">
            <a:spAutoFit/>
          </a:bodyPr>
          <a:lstStyle/>
          <a:p>
            <a:r>
              <a:rPr lang="en-IN" dirty="0"/>
              <a:t>Seasonal Comparison</a:t>
            </a:r>
          </a:p>
        </p:txBody>
      </p:sp>
      <p:pic>
        <p:nvPicPr>
          <p:cNvPr id="24" name="Picture 23">
            <a:extLst>
              <a:ext uri="{FF2B5EF4-FFF2-40B4-BE49-F238E27FC236}">
                <a16:creationId xmlns:a16="http://schemas.microsoft.com/office/drawing/2014/main" id="{C72A1F6B-6248-2B83-2DD8-A2AC4CFDEAA2}"/>
              </a:ext>
            </a:extLst>
          </p:cNvPr>
          <p:cNvPicPr>
            <a:picLocks noChangeAspect="1"/>
          </p:cNvPicPr>
          <p:nvPr/>
        </p:nvPicPr>
        <p:blipFill>
          <a:blip r:embed="rId3"/>
          <a:stretch>
            <a:fillRect/>
          </a:stretch>
        </p:blipFill>
        <p:spPr>
          <a:xfrm>
            <a:off x="81497" y="1608410"/>
            <a:ext cx="5684822" cy="4286295"/>
          </a:xfrm>
          <a:prstGeom prst="rect">
            <a:avLst/>
          </a:prstGeom>
        </p:spPr>
      </p:pic>
      <p:pic>
        <p:nvPicPr>
          <p:cNvPr id="26" name="Picture 25">
            <a:extLst>
              <a:ext uri="{FF2B5EF4-FFF2-40B4-BE49-F238E27FC236}">
                <a16:creationId xmlns:a16="http://schemas.microsoft.com/office/drawing/2014/main" id="{FB6E255E-8E6B-0931-F043-CA523A6C2A17}"/>
              </a:ext>
            </a:extLst>
          </p:cNvPr>
          <p:cNvPicPr>
            <a:picLocks noChangeAspect="1"/>
          </p:cNvPicPr>
          <p:nvPr/>
        </p:nvPicPr>
        <p:blipFill>
          <a:blip r:embed="rId4"/>
          <a:stretch>
            <a:fillRect/>
          </a:stretch>
        </p:blipFill>
        <p:spPr>
          <a:xfrm>
            <a:off x="6316826" y="1644703"/>
            <a:ext cx="4907901" cy="3918175"/>
          </a:xfrm>
          <a:prstGeom prst="rect">
            <a:avLst/>
          </a:prstGeom>
        </p:spPr>
      </p:pic>
      <p:sp>
        <p:nvSpPr>
          <p:cNvPr id="28" name="TextBox 27">
            <a:extLst>
              <a:ext uri="{FF2B5EF4-FFF2-40B4-BE49-F238E27FC236}">
                <a16:creationId xmlns:a16="http://schemas.microsoft.com/office/drawing/2014/main" id="{D42B72C0-3C5E-CF51-0849-20814DD477AE}"/>
              </a:ext>
            </a:extLst>
          </p:cNvPr>
          <p:cNvSpPr txBox="1"/>
          <p:nvPr/>
        </p:nvSpPr>
        <p:spPr>
          <a:xfrm>
            <a:off x="970383" y="5980837"/>
            <a:ext cx="10319658" cy="923330"/>
          </a:xfrm>
          <a:prstGeom prst="rect">
            <a:avLst/>
          </a:prstGeom>
          <a:noFill/>
        </p:spPr>
        <p:txBody>
          <a:bodyPr wrap="square">
            <a:spAutoFit/>
          </a:bodyPr>
          <a:lstStyle/>
          <a:p>
            <a:r>
              <a:rPr lang="en-IN" dirty="0"/>
              <a:t>Compares the average yield of different crops across Kharif, Rabi, and Zaid seasons, along with the profitability of different irrigation methods across seasons. The results highlight seasonal variations in crop performance and the financial benefits associated with irrigation choices.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A896E-03BB-F9A1-679D-AF2E7377AA2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CBA3F72-C69B-0CC0-E807-DEC023725D7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466033E-0E19-5A7A-9281-EEF463FA497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EF89312-8A83-1187-6553-A5749EB1C61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0D73D26-D5F6-8B4F-F9A4-9C15EA4E384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83BA7E82-6326-FD9A-CE06-7D7890FAB545}"/>
              </a:ext>
            </a:extLst>
          </p:cNvPr>
          <p:cNvSpPr txBox="1"/>
          <p:nvPr/>
        </p:nvSpPr>
        <p:spPr>
          <a:xfrm>
            <a:off x="606489" y="1354885"/>
            <a:ext cx="8117633" cy="369332"/>
          </a:xfrm>
          <a:prstGeom prst="rect">
            <a:avLst/>
          </a:prstGeom>
          <a:noFill/>
        </p:spPr>
        <p:txBody>
          <a:bodyPr wrap="square">
            <a:spAutoFit/>
          </a:bodyPr>
          <a:lstStyle/>
          <a:p>
            <a:r>
              <a:rPr lang="en-IN" dirty="0"/>
              <a:t>Environmental Factors and Their Impact on Crop Performance</a:t>
            </a:r>
          </a:p>
        </p:txBody>
      </p:sp>
      <p:pic>
        <p:nvPicPr>
          <p:cNvPr id="9" name="Picture 8">
            <a:extLst>
              <a:ext uri="{FF2B5EF4-FFF2-40B4-BE49-F238E27FC236}">
                <a16:creationId xmlns:a16="http://schemas.microsoft.com/office/drawing/2014/main" id="{E4261B28-EBE0-9627-0E80-A293A039C07C}"/>
              </a:ext>
            </a:extLst>
          </p:cNvPr>
          <p:cNvPicPr>
            <a:picLocks noChangeAspect="1"/>
          </p:cNvPicPr>
          <p:nvPr/>
        </p:nvPicPr>
        <p:blipFill>
          <a:blip r:embed="rId3"/>
          <a:stretch>
            <a:fillRect/>
          </a:stretch>
        </p:blipFill>
        <p:spPr>
          <a:xfrm>
            <a:off x="126603" y="1738213"/>
            <a:ext cx="6582107" cy="5164494"/>
          </a:xfrm>
          <a:prstGeom prst="rect">
            <a:avLst/>
          </a:prstGeom>
        </p:spPr>
      </p:pic>
      <p:sp>
        <p:nvSpPr>
          <p:cNvPr id="11" name="TextBox 10">
            <a:extLst>
              <a:ext uri="{FF2B5EF4-FFF2-40B4-BE49-F238E27FC236}">
                <a16:creationId xmlns:a16="http://schemas.microsoft.com/office/drawing/2014/main" id="{107C65BB-AD24-2D3C-7E41-3E46794F9F8B}"/>
              </a:ext>
            </a:extLst>
          </p:cNvPr>
          <p:cNvSpPr txBox="1"/>
          <p:nvPr/>
        </p:nvSpPr>
        <p:spPr>
          <a:xfrm>
            <a:off x="7137918" y="2187059"/>
            <a:ext cx="2957804" cy="3139321"/>
          </a:xfrm>
          <a:prstGeom prst="rect">
            <a:avLst/>
          </a:prstGeom>
          <a:noFill/>
        </p:spPr>
        <p:txBody>
          <a:bodyPr wrap="square">
            <a:spAutoFit/>
          </a:bodyPr>
          <a:lstStyle/>
          <a:p>
            <a:r>
              <a:rPr lang="en-IN" dirty="0"/>
              <a:t>Analyses the relationships between environmental conditions, agricultural inputs, crop yield, water efficiency, disease risk, and profit. The correlation patterns help identify the factors that are most closely associated with overall agricultural performance</a:t>
            </a:r>
          </a:p>
        </p:txBody>
      </p:sp>
    </p:spTree>
    <p:extLst>
      <p:ext uri="{BB962C8B-B14F-4D97-AF65-F5344CB8AC3E}">
        <p14:creationId xmlns:p14="http://schemas.microsoft.com/office/powerpoint/2010/main" val="41774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B9C7F-1F20-BE43-8E9A-E2B5BA2423A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31F9F11-79CA-4D88-8DD0-1B0B0F0AD42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7861E72-08EE-EF4C-47D1-C89DC068E7C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3292713-3C25-5EA5-0B36-F781EB809AE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6AB08C0-035F-36CD-950E-5B178D675CA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1" name="Picture 20">
            <a:extLst>
              <a:ext uri="{FF2B5EF4-FFF2-40B4-BE49-F238E27FC236}">
                <a16:creationId xmlns:a16="http://schemas.microsoft.com/office/drawing/2014/main" id="{4418AB46-B01D-0084-037E-AAC08E7D6726}"/>
              </a:ext>
            </a:extLst>
          </p:cNvPr>
          <p:cNvPicPr>
            <a:picLocks noChangeAspect="1"/>
          </p:cNvPicPr>
          <p:nvPr/>
        </p:nvPicPr>
        <p:blipFill>
          <a:blip r:embed="rId3"/>
          <a:stretch>
            <a:fillRect/>
          </a:stretch>
        </p:blipFill>
        <p:spPr>
          <a:xfrm>
            <a:off x="0" y="1275371"/>
            <a:ext cx="11034716" cy="5464013"/>
          </a:xfrm>
          <a:prstGeom prst="rect">
            <a:avLst/>
          </a:prstGeom>
        </p:spPr>
      </p:pic>
    </p:spTree>
    <p:extLst>
      <p:ext uri="{BB962C8B-B14F-4D97-AF65-F5344CB8AC3E}">
        <p14:creationId xmlns:p14="http://schemas.microsoft.com/office/powerpoint/2010/main" val="410603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31BA1669-8D97-8741-F554-09CA2F152EBB}"/>
              </a:ext>
            </a:extLst>
          </p:cNvPr>
          <p:cNvPicPr>
            <a:picLocks noChangeAspect="1"/>
          </p:cNvPicPr>
          <p:nvPr/>
        </p:nvPicPr>
        <p:blipFill>
          <a:blip r:embed="rId3"/>
          <a:stretch>
            <a:fillRect/>
          </a:stretch>
        </p:blipFill>
        <p:spPr>
          <a:xfrm>
            <a:off x="64097" y="1275371"/>
            <a:ext cx="10036410" cy="487722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F7395A28-CFAF-4AD9-2A1E-D72E3814DA03}"/>
              </a:ext>
            </a:extLst>
          </p:cNvPr>
          <p:cNvPicPr>
            <a:picLocks noChangeAspect="1"/>
          </p:cNvPicPr>
          <p:nvPr/>
        </p:nvPicPr>
        <p:blipFill>
          <a:blip r:embed="rId3"/>
          <a:stretch>
            <a:fillRect/>
          </a:stretch>
        </p:blipFill>
        <p:spPr>
          <a:xfrm>
            <a:off x="184250" y="1275371"/>
            <a:ext cx="9640135" cy="550211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16" name="Picture 15">
            <a:extLst>
              <a:ext uri="{FF2B5EF4-FFF2-40B4-BE49-F238E27FC236}">
                <a16:creationId xmlns:a16="http://schemas.microsoft.com/office/drawing/2014/main" id="{9A413DCF-D356-25F6-F68C-8F67AFAF873F}"/>
              </a:ext>
            </a:extLst>
          </p:cNvPr>
          <p:cNvPicPr>
            <a:picLocks noChangeAspect="1"/>
          </p:cNvPicPr>
          <p:nvPr/>
        </p:nvPicPr>
        <p:blipFill>
          <a:blip r:embed="rId3"/>
          <a:stretch>
            <a:fillRect/>
          </a:stretch>
        </p:blipFill>
        <p:spPr>
          <a:xfrm>
            <a:off x="182836" y="1406704"/>
            <a:ext cx="8344623" cy="525825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9" name="Picture 8">
            <a:extLst>
              <a:ext uri="{FF2B5EF4-FFF2-40B4-BE49-F238E27FC236}">
                <a16:creationId xmlns:a16="http://schemas.microsoft.com/office/drawing/2014/main" id="{843641CB-3DEE-5ADC-F5F5-468BBFB4212C}"/>
              </a:ext>
            </a:extLst>
          </p:cNvPr>
          <p:cNvPicPr>
            <a:picLocks noChangeAspect="1"/>
          </p:cNvPicPr>
          <p:nvPr/>
        </p:nvPicPr>
        <p:blipFill>
          <a:blip r:embed="rId3"/>
          <a:stretch>
            <a:fillRect/>
          </a:stretch>
        </p:blipFill>
        <p:spPr>
          <a:xfrm>
            <a:off x="83176" y="1142530"/>
            <a:ext cx="9487722" cy="542591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779E42E5-F742-E0CA-CC21-69FFC43372AC}"/>
              </a:ext>
            </a:extLst>
          </p:cNvPr>
          <p:cNvSpPr txBox="1"/>
          <p:nvPr/>
        </p:nvSpPr>
        <p:spPr>
          <a:xfrm>
            <a:off x="613433" y="1275371"/>
            <a:ext cx="6102220" cy="4247317"/>
          </a:xfrm>
          <a:prstGeom prst="rect">
            <a:avLst/>
          </a:prstGeom>
          <a:noFill/>
        </p:spPr>
        <p:txBody>
          <a:bodyPr wrap="square">
            <a:spAutoFit/>
          </a:bodyPr>
          <a:lstStyle/>
          <a:p>
            <a:pPr marL="342900" lvl="0" indent="-342900">
              <a:buFont typeface="Arial" panose="020B0604020202020204" pitchFamily="34" charset="0"/>
              <a:buChar char="•"/>
            </a:pPr>
            <a:r>
              <a:rPr lang="en-IN" dirty="0"/>
              <a:t>Build a predictive model (e.g. regression) to forecast yield or profit based on season and environmental inputs</a:t>
            </a:r>
          </a:p>
          <a:p>
            <a:pPr marL="342900" lvl="0" indent="-342900">
              <a:buFont typeface="Arial" panose="020B0604020202020204" pitchFamily="34" charset="0"/>
              <a:buChar char="•"/>
            </a:pPr>
            <a:r>
              <a:rPr lang="en-IN" dirty="0"/>
              <a:t>Add real-time weather API integration to make the analysis dynamic instead of static</a:t>
            </a:r>
          </a:p>
          <a:p>
            <a:pPr marL="342900" lvl="0" indent="-342900">
              <a:buFont typeface="Arial" panose="020B0604020202020204" pitchFamily="34" charset="0"/>
              <a:buChar char="•"/>
            </a:pPr>
            <a:r>
              <a:rPr lang="en-IN" dirty="0"/>
              <a:t>Extend the dataset to more states/districts for wider geographic coverage</a:t>
            </a:r>
          </a:p>
          <a:p>
            <a:pPr marL="342900" lvl="0" indent="-342900">
              <a:buFont typeface="Arial" panose="020B0604020202020204" pitchFamily="34" charset="0"/>
              <a:buChar char="•"/>
            </a:pPr>
            <a:r>
              <a:rPr lang="en-IN" dirty="0"/>
              <a:t>Build an interactive dashboard) so non-technical users like farmers or officers can explore the data themselves</a:t>
            </a:r>
          </a:p>
          <a:p>
            <a:pPr marL="342900" lvl="0" indent="-342900">
              <a:buFont typeface="Arial" panose="020B0604020202020204" pitchFamily="34" charset="0"/>
              <a:buChar char="•"/>
            </a:pPr>
            <a:r>
              <a:rPr lang="en-IN" dirty="0"/>
              <a:t>Include soil health and satellite/remote-sensing data for deeper environmental analysis</a:t>
            </a:r>
          </a:p>
          <a:p>
            <a:pPr marL="342900" lvl="0" indent="-342900">
              <a:buFont typeface="Arial" panose="020B0604020202020204" pitchFamily="34" charset="0"/>
              <a:buChar char="•"/>
            </a:pPr>
            <a:r>
              <a:rPr lang="en-IN" dirty="0"/>
              <a:t>Study the profitability problem found in the data (nearly half the farms operate at a loss) as its own separate project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US" dirty="0">
                <a:hlinkClick r:id="rId3"/>
              </a:rPr>
              <a:t>https://github.com/CharanTeja-06/agriculture-data-analysis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2846583-8A84-8AE1-0B88-11A7F173D0C9}"/>
              </a:ext>
            </a:extLst>
          </p:cNvPr>
          <p:cNvPicPr>
            <a:picLocks noChangeAspect="1"/>
          </p:cNvPicPr>
          <p:nvPr/>
        </p:nvPicPr>
        <p:blipFill>
          <a:blip r:embed="rId3"/>
          <a:stretch>
            <a:fillRect/>
          </a:stretch>
        </p:blipFill>
        <p:spPr>
          <a:xfrm>
            <a:off x="0" y="1275371"/>
            <a:ext cx="8016935" cy="572311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417" y="2998506"/>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4AD0F-4509-952D-2BEB-42252D15210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54025BC-5266-DAC3-0EA7-713359E2726C}"/>
              </a:ext>
            </a:extLst>
          </p:cNvPr>
          <p:cNvSpPr>
            <a:spLocks noGrp="1"/>
          </p:cNvSpPr>
          <p:nvPr>
            <p:ph type="title"/>
          </p:nvPr>
        </p:nvSpPr>
        <p:spPr>
          <a:xfrm>
            <a:off x="-426417" y="2998506"/>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E29DC131-EC7F-E8AA-BC11-F478CBA77B2B}"/>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08124ABA-AB73-B2A1-EBE9-ED3965979524}"/>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CC0DBD0D-B934-F28E-833C-6C9850EF41C3}"/>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133C6A0B-3A37-96AC-AF92-437A43576E9A}"/>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25B116E5-BAE8-FF6E-1900-8A308852AC89}"/>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4FC75B5B-9A5E-5283-1562-28408D2F437A}"/>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83218FBF-53B1-791D-00AA-E2229239EDCF}"/>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2460204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1380</TotalTime>
  <Words>617</Words>
  <Application>Microsoft Office PowerPoint</Application>
  <PresentationFormat>Widescreen</PresentationFormat>
  <Paragraphs>50</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Charan Teja Raipally</cp:lastModifiedBy>
  <cp:revision>101</cp:revision>
  <dcterms:created xsi:type="dcterms:W3CDTF">2021-07-11T13:13:15Z</dcterms:created>
  <dcterms:modified xsi:type="dcterms:W3CDTF">2026-09-09T19:02:42Z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